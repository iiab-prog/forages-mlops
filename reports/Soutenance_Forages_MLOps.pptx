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Du modèle à la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Projet de fin de cours — apprentissage automatique appliqué à la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Prédire les pannes de forages dans les 90 jours</a:t>
            </a:r>
          </a:p>
          <a:p>
            <a:pPr>
              <a:spcAft>
                <a:spcPts val="1200"/>
              </a:spcAft>
              <a:defRPr sz="1900"/>
            </a:pPr>
            <a:r>
              <a:t>Projet MLOps : données → modèle → API → Docker → surveillance</a:t>
            </a:r>
          </a:p>
          <a:p>
            <a:pPr>
              <a:spcAft>
                <a:spcPts val="1200"/>
              </a:spcAft>
              <a:defRPr sz="1900"/>
            </a:pPr>
            <a:r>
              <a:t>Données pédagogiques fictives fournies</a:t>
            </a:r>
          </a:p>
          <a:p>
            <a:pPr>
              <a:spcAft>
                <a:spcPts val="1200"/>
              </a:spcAft>
              <a:defRPr sz="1900"/>
            </a:pPr>
            <a:r>
              <a:t>Objectif : aider à prioriser les visites préventives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1. Besoin métier et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Les pannes prolongées privent les localités d’accès à l’eau.</a:t>
            </a:r>
          </a:p>
          <a:p>
            <a:pPr>
              <a:spcAft>
                <a:spcPts val="1200"/>
              </a:spcAft>
              <a:defRPr sz="1900"/>
            </a:pPr>
            <a:r>
              <a:t>Historique : 3 000 lignes ; mois récent : 600 lignes.</a:t>
            </a:r>
          </a:p>
          <a:p>
            <a:pPr>
              <a:spcAft>
                <a:spcPts val="1200"/>
              </a:spcAft>
              <a:defRPr sz="1900"/>
            </a:pPr>
            <a:r>
              <a:t>Cible : panne_90j (0/1).</a:t>
            </a:r>
          </a:p>
          <a:p>
            <a:pPr>
              <a:spcAft>
                <a:spcPts val="1200"/>
              </a:spcAft>
              <a:defRPr sz="1900"/>
            </a:pPr>
            <a:r>
              <a:t>8 variables explicatives, dont l’état de maintenance, l’usage et la localisation.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2. Pipeline de bout en 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Validation des colonnes et séparation stratifiée 80/20.</a:t>
            </a:r>
          </a:p>
          <a:p>
            <a:pPr>
              <a:spcAft>
                <a:spcPts val="1200"/>
              </a:spcAft>
              <a:defRPr sz="1900"/>
            </a:pPr>
            <a:r>
              <a:t>Imputation + standardisation numériques ; encodage catégoriel.</a:t>
            </a:r>
          </a:p>
          <a:p>
            <a:pPr>
              <a:spcAft>
                <a:spcPts val="1200"/>
              </a:spcAft>
              <a:defRPr sz="1900"/>
            </a:pPr>
            <a:r>
              <a:t>Comparaison de 3 modèles avec graine fixe 42.</a:t>
            </a:r>
          </a:p>
          <a:p>
            <a:pPr>
              <a:spcAft>
                <a:spcPts val="1200"/>
              </a:spcAft>
              <a:defRPr sz="1900"/>
            </a:pPr>
            <a:r>
              <a:t>Modèle sérialisé + métadonnées + seuil documenté.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3. Résultats des modèles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Modèle retenu : logistic_regression</a:t>
            </a:r>
          </a:p>
          <a:p>
            <a:pPr>
              <a:spcAft>
                <a:spcPts val="1200"/>
              </a:spcAft>
              <a:defRPr sz="1900"/>
            </a:pPr>
            <a:r>
              <a:t>AP = 0.606 ; ROC AUC = 0.751.</a:t>
            </a:r>
          </a:p>
          <a:p>
            <a:pPr>
              <a:spcAft>
                <a:spcPts val="1200"/>
              </a:spcAft>
              <a:defRPr sz="1900"/>
            </a:pPr>
            <a:r>
              <a:t>Rappel = 0.679 ; F1 = 0.613.</a:t>
            </a:r>
          </a:p>
          <a:p>
            <a:pPr>
              <a:spcAft>
                <a:spcPts val="1200"/>
              </a:spcAft>
              <a:defRPr sz="1900"/>
            </a:pPr>
            <a:r>
              <a:t>Garde-fou AP ≥ 0,50 : PASSÉ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4. API de prédiction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FastAPI : GET /health et /metadata ; POST /predict.</a:t>
            </a:r>
          </a:p>
          <a:p>
            <a:pPr>
              <a:spcAft>
                <a:spcPts val="1200"/>
              </a:spcAft>
              <a:defRPr sz="1900"/>
            </a:pPr>
            <a:r>
              <a:t>Validation stricte des entrées par Pydantic.</a:t>
            </a:r>
          </a:p>
          <a:p>
            <a:pPr>
              <a:spcAft>
                <a:spcPts val="1200"/>
              </a:spcAft>
              <a:defRPr sz="1900"/>
            </a:pPr>
            <a:r>
              <a:t>Réponse : probabilité, classe faible/modérée/élevée, modèle utilisé.</a:t>
            </a:r>
          </a:p>
          <a:p>
            <a:pPr>
              <a:spcAft>
                <a:spcPts val="1200"/>
              </a:spcAft>
              <a:defRPr sz="1900"/>
            </a:pPr>
            <a:r>
              <a:t>Swagger : /docs ; modèle chargé au démarrage.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5. Qualité et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Tests du contrat API et des valeurs invalides.</a:t>
            </a:r>
          </a:p>
          <a:p>
            <a:pPr>
              <a:spcAft>
                <a:spcPts val="1200"/>
              </a:spcAft>
              <a:defRPr sz="1900"/>
            </a:pPr>
            <a:r>
              <a:t>Tests de surveillance statistique.</a:t>
            </a:r>
          </a:p>
          <a:p>
            <a:pPr>
              <a:spcAft>
                <a:spcPts val="1200"/>
              </a:spcAft>
              <a:defRPr sz="1900"/>
            </a:pPr>
            <a:r>
              <a:t>CI GitHub Actions : installation, entraînement, pytest.</a:t>
            </a:r>
          </a:p>
          <a:p>
            <a:pPr>
              <a:spcAft>
                <a:spcPts val="1200"/>
              </a:spcAft>
              <a:defRPr sz="1900"/>
            </a:pPr>
            <a:r>
              <a:t>Validation locale : 4 tests réussis.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6. Conteneurisation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Dockerfile Python 3.11 slim.</a:t>
            </a:r>
          </a:p>
          <a:p>
            <a:pPr>
              <a:spcAft>
                <a:spcPts val="1200"/>
              </a:spcAft>
              <a:defRPr sz="1900"/>
            </a:pPr>
            <a:r>
              <a:t>docker-compose expose le port 8000.</a:t>
            </a:r>
          </a:p>
          <a:p>
            <a:pPr>
              <a:spcAft>
                <a:spcPts val="1200"/>
              </a:spcAft>
              <a:defRPr sz="1900"/>
            </a:pPr>
            <a:r>
              <a:t>La construction installe les dépendances et prépare le modèle.</a:t>
            </a:r>
          </a:p>
          <a:p>
            <a:pPr>
              <a:spcAft>
                <a:spcPts val="1200"/>
              </a:spcAft>
              <a:defRPr sz="1900"/>
            </a:pPr>
            <a:r>
              <a:t>Commande : docker compose up --build.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7. Surveillance de la dérive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Comparaison historique / mois récent.</a:t>
            </a:r>
          </a:p>
          <a:p>
            <a:pPr>
              <a:spcAft>
                <a:spcPts val="1200"/>
              </a:spcAft>
              <a:defRPr sz="1900"/>
            </a:pPr>
            <a:r>
              <a:t>Numérique : test KS, p &lt; 0,05 ; catégoriel : TVD ≥ 0,10.</a:t>
            </a:r>
          </a:p>
          <a:p>
            <a:pPr>
              <a:spcAft>
                <a:spcPts val="1200"/>
              </a:spcAft>
              <a:defRPr sz="1900"/>
            </a:pPr>
            <a:r>
              <a:t>Variables signalées : usagers_jour et pannes_12m.</a:t>
            </a:r>
          </a:p>
          <a:p>
            <a:pPr>
              <a:spcAft>
                <a:spcPts val="1200"/>
              </a:spcAft>
              <a:defRPr sz="1900"/>
            </a:pPr>
            <a:r>
              <a:t>Décision : examiner un ré-entraînement, avec validation métier.</a:t>
            </a:r>
          </a:p>
        </p:txBody>
      </p:sp>
      <p:pic>
        <p:nvPicPr>
          <p:cNvPr id="5" name="Picture 4" descr="drif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8. Démonstration de bout en 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1. Entraîner : python -m src.modeling</a:t>
            </a:r>
          </a:p>
          <a:p>
            <a:pPr>
              <a:spcAft>
                <a:spcPts val="1200"/>
              </a:spcAft>
              <a:defRPr sz="1900"/>
            </a:pPr>
            <a:r>
              <a:t>2. Surveiller : python -m src.monitoring</a:t>
            </a:r>
          </a:p>
          <a:p>
            <a:pPr>
              <a:spcAft>
                <a:spcPts val="1200"/>
              </a:spcAft>
              <a:defRPr sz="1900"/>
            </a:pPr>
            <a:r>
              <a:t>3. Scorer les 600 forages : python predict_batch.py</a:t>
            </a:r>
          </a:p>
          <a:p>
            <a:pPr>
              <a:spcAft>
                <a:spcPts val="1200"/>
              </a:spcAft>
              <a:defRPr sz="1900"/>
            </a:pPr>
            <a:r>
              <a:t>4. Démarrer API, ouvrir /docs, envoyer un JSON et lire le risque.</a:t>
            </a:r>
          </a:p>
        </p:txBody>
      </p:sp>
      <p:pic>
        <p:nvPicPr>
          <p:cNvPr id="5" name="Picture 4" descr="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9. Limites et décision opérationnelle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Données fictives : résultats non transposables sans validation terrain.</a:t>
            </a:r>
          </a:p>
          <a:p>
            <a:pPr>
              <a:spcAft>
                <a:spcPts val="1200"/>
              </a:spcAft>
              <a:defRPr sz="1900"/>
            </a:pPr>
            <a:r>
              <a:t>Le seuil 0,5 et les classes de risque sont des paramètres de démonstration.</a:t>
            </a:r>
          </a:p>
          <a:p>
            <a:pPr>
              <a:spcAft>
                <a:spcPts val="1200"/>
              </a:spcAft>
              <a:defRPr sz="1900"/>
            </a:pPr>
            <a:r>
              <a:t>Dérive statistique ≠ baisse automatique de performance.</a:t>
            </a:r>
          </a:p>
          <a:p>
            <a:pPr>
              <a:spcAft>
                <a:spcPts val="1200"/>
              </a:spcAft>
              <a:defRPr sz="1900"/>
            </a:pPr>
            <a:r>
              <a:t>Toute décision de maintenance et tout ré-entraînement doivent être validés par un responsable.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4"/>
                </a:solidFill>
              </a:defRPr>
            </a:pPr>
            <a:r>
              <a:t>Conclusion et livrables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Pipeline ML reproductible et modèle sauvegardé.</a:t>
            </a:r>
          </a:p>
          <a:p>
            <a:pPr>
              <a:spcAft>
                <a:spcPts val="1200"/>
              </a:spcAft>
              <a:defRPr sz="1900"/>
            </a:pPr>
            <a:r>
              <a:t>API versionnée, validation, tests et configuration Docker/CI.</a:t>
            </a:r>
          </a:p>
          <a:p>
            <a:pPr>
              <a:spcAft>
                <a:spcPts val="1200"/>
              </a:spcAft>
              <a:defRPr sz="1900"/>
            </a:pPr>
            <a:r>
              <a:t>Comparaison des modèles, scores batch et rapport de dérive.</a:t>
            </a:r>
          </a:p>
          <a:p>
            <a:pPr>
              <a:spcAft>
                <a:spcPts val="1200"/>
              </a:spcAft>
              <a:defRPr sz="1900"/>
            </a:pPr>
            <a:r>
              <a:t>Rapport technique, model card et ce support de soutenance.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